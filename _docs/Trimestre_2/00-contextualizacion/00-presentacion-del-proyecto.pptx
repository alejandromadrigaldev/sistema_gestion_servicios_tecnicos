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33"/>
  </p:notesMasterIdLst>
  <p:sldIdLst>
    <p:sldId id="256" r:id="rId3"/>
    <p:sldId id="503" r:id="rId4"/>
    <p:sldId id="515" r:id="rId5"/>
    <p:sldId id="506" r:id="rId6"/>
    <p:sldId id="502" r:id="rId7"/>
    <p:sldId id="516" r:id="rId8"/>
    <p:sldId id="509" r:id="rId9"/>
    <p:sldId id="511" r:id="rId10"/>
    <p:sldId id="513" r:id="rId11"/>
    <p:sldId id="514" r:id="rId12"/>
    <p:sldId id="26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80" r:id="rId26"/>
    <p:sldId id="281" r:id="rId27"/>
    <p:sldId id="283" r:id="rId28"/>
    <p:sldId id="294" r:id="rId29"/>
    <p:sldId id="297" r:id="rId30"/>
    <p:sldId id="299" r:id="rId31"/>
    <p:sldId id="345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Work Sans Light" pitchFamily="2" charset="0"/>
      <p:regular r:id="rId40"/>
      <p:bold r:id="rId41"/>
      <p:italic r:id="rId42"/>
      <p:boldItalic r:id="rId43"/>
    </p:embeddedFont>
    <p:embeddedFont>
      <p:font typeface="Work Sans Medium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5" roundtripDataSignature="AMtx7mgKAYh8l8g1go7Cds+iFWwEhIXU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A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10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viewProps" Target="viewProps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105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108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6C58E-460D-4A4B-B0C2-1191B9D14FC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0" name="Google Shape;370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724" name="Google Shape;72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5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5590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5825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647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0167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177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85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458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721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74288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1224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27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1989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548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7863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6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526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634313C-61D4-D25B-25F4-1E01BB0C641C}"/>
              </a:ext>
            </a:extLst>
          </p:cNvPr>
          <p:cNvSpPr/>
          <p:nvPr/>
        </p:nvSpPr>
        <p:spPr>
          <a:xfrm>
            <a:off x="240631" y="212540"/>
            <a:ext cx="11710738" cy="1286331"/>
          </a:xfrm>
          <a:prstGeom prst="rect">
            <a:avLst/>
          </a:prstGeom>
          <a:solidFill>
            <a:srgbClr val="39A9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96" name="Google Shape;96;p1" descr="Servicio Técnico Autorizado Mosquera - Linea Blanc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144" y="2164532"/>
            <a:ext cx="5284436" cy="32279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938930" y="5455646"/>
            <a:ext cx="405482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br>
              <a:rPr lang="es-MX" sz="2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2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Ficha: 3069138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246827" y="4189192"/>
            <a:ext cx="543902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MX" sz="7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ElectroMovil</a:t>
            </a:r>
            <a:endParaRPr sz="7200" b="1" i="0" u="none" strike="noStrike" cap="none" dirty="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5750" y1="23500" x2="55750" y2="23500"/>
                        <a14:foregroundMark x1="20250" y1="35500" x2="20250" y2="35500"/>
                        <a14:foregroundMark x1="35250" y1="38250" x2="35250" y2="38250"/>
                        <a14:foregroundMark x1="46250" y1="63500" x2="46250" y2="63500"/>
                        <a14:foregroundMark x1="58250" y1="54000" x2="58250" y2="54000"/>
                        <a14:foregroundMark x1="61500" y1="41750" x2="61500" y2="41750"/>
                        <a14:foregroundMark x1="82750" y1="38250" x2="82750" y2="38250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1549" y="342380"/>
            <a:ext cx="1059251" cy="1027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469886" y="292406"/>
            <a:ext cx="798204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de Electricidad Electrónica y Telecomunicaciones</a:t>
            </a:r>
            <a:br>
              <a:rPr lang="es-MX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MX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Distrito Capital</a:t>
            </a:r>
            <a:endParaRPr sz="2000" b="1" i="0" u="none" strike="noStrike" cap="none" dirty="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7506CE-05E4-9A3B-712A-56D11FF28754}"/>
              </a:ext>
            </a:extLst>
          </p:cNvPr>
          <p:cNvSpPr txBox="1"/>
          <p:nvPr/>
        </p:nvSpPr>
        <p:spPr>
          <a:xfrm>
            <a:off x="5669769" y="3600151"/>
            <a:ext cx="6593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Servicios Técnicos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Línea Blanca A Domicilio</a:t>
            </a:r>
            <a:endParaRPr lang="es-ES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0EA2D7-5305-AFB0-9728-DCB9C400877C}"/>
              </a:ext>
            </a:extLst>
          </p:cNvPr>
          <p:cNvSpPr txBox="1">
            <a:spLocks/>
          </p:cNvSpPr>
          <p:nvPr/>
        </p:nvSpPr>
        <p:spPr>
          <a:xfrm>
            <a:off x="7965768" y="2020003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52C558-BE78-699B-D809-00B348EA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435" y="359385"/>
            <a:ext cx="2398421" cy="98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1449533" y="1360334"/>
            <a:ext cx="92929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Servicios Técnicos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Línea Blanca A Domicilio</a:t>
            </a:r>
            <a:endParaRPr lang="es-ES" sz="40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787159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3616427" y="3977874"/>
            <a:ext cx="4959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Jose Alejandro Madrigal Ruiz</a:t>
            </a:r>
            <a:endParaRPr kumimoji="0" lang="es-CO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Servicio Nacional de Aprendizaje –SENA, Centro de Electricidad Electrónica y Telecomunicaciones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Tecnólogo en Análisis y Desarrollo de Software – ADSO, Cuarto Trimestre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Instructor Albeiro Ramos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Bogotá, Agosto de 2025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E3030F-8CCB-0A90-AA8D-4E4BD10C2E4D}"/>
              </a:ext>
            </a:extLst>
          </p:cNvPr>
          <p:cNvSpPr txBox="1"/>
          <p:nvPr/>
        </p:nvSpPr>
        <p:spPr>
          <a:xfrm>
            <a:off x="5285520" y="307322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Aprendiz</a:t>
            </a:r>
            <a:endParaRPr lang="es-ES" sz="2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0BBE92E-E940-E600-3DB6-664190231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62863" y="1883719"/>
            <a:ext cx="6071998" cy="404701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A007530-3AB5-CB6B-FBCA-F91CE0C03C92}"/>
              </a:ext>
            </a:extLst>
          </p:cNvPr>
          <p:cNvSpPr txBox="1">
            <a:spLocks/>
          </p:cNvSpPr>
          <p:nvPr/>
        </p:nvSpPr>
        <p:spPr>
          <a:xfrm>
            <a:off x="1145896" y="764392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3600" b="0" i="0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Light" pitchFamily="2" charset="77"/>
                <a:ea typeface="+mj-ea"/>
                <a:cs typeface="+mj-cs"/>
                <a:sym typeface="Arial"/>
              </a:rPr>
              <a:t>Introducción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61DB3C-8C42-5DE8-2721-CC9AB489FB66}"/>
              </a:ext>
            </a:extLst>
          </p:cNvPr>
          <p:cNvSpPr txBox="1"/>
          <p:nvPr/>
        </p:nvSpPr>
        <p:spPr>
          <a:xfrm>
            <a:off x="1145896" y="3275635"/>
            <a:ext cx="38543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Light" pitchFamily="2" charset="77"/>
                <a:cs typeface="Arial"/>
                <a:sym typeface="Arial"/>
              </a:rPr>
              <a:t>Breve párrafo Introductorio sobre el contexto: sector, organización, producto, servicio,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 Light" pitchFamily="2" charset="7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Light" pitchFamily="2" charset="77"/>
                <a:cs typeface="Arial"/>
                <a:sym typeface="Arial"/>
              </a:rPr>
              <a:t>Descripción de la Presentación, es decir, problema, Objetivos, Justificación, alcance y delimitación.</a:t>
            </a:r>
            <a:endParaRPr kumimoji="0" lang="es-C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 Light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968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Medium" pitchFamily="2" charset="77"/>
                <a:ea typeface="+mj-ea"/>
                <a:cs typeface="+mj-cs"/>
              </a:rPr>
              <a:t>Índice: ElectroMovil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D24723-360A-B357-B421-17CF33D4C0B4}"/>
              </a:ext>
            </a:extLst>
          </p:cNvPr>
          <p:cNvSpPr txBox="1">
            <a:spLocks/>
          </p:cNvSpPr>
          <p:nvPr/>
        </p:nvSpPr>
        <p:spPr>
          <a:xfrm>
            <a:off x="1792941" y="2617694"/>
            <a:ext cx="3295045" cy="2462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Problema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Objetivos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Justificación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Alcance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Delimitación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Entregables Trimestre</a:t>
            </a:r>
          </a:p>
        </p:txBody>
      </p:sp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82235" y="50326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Empresa, es decir, nombre, ubicación, a qué se dedica, etc.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Los Procesos en los que se va a intervenir : Proceso1, Proceso2, Proceso3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El análisis de la información: Utilización de las Técnicas e Instrumentos de recolección de datos: Revisión Documental (Análisis de datos). Entrevista (Entrevista). Encuesta (Cuestionario). Observación Directa (Diario de Campo). A quiénes: Cargo-Funciones.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Las necesidades encontradas: Proceso1 (Descripción del proceso y necesidades encontradas). Proceso2 (Descripción del proceso y necesidades encontradas). Proceso3 (Descripción del proceso y necesidades encontradas).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Light" pitchFamily="2" charset="77"/>
                <a:ea typeface="+mj-ea"/>
                <a:cs typeface="+mj-cs"/>
                <a:sym typeface="Arial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Arial"/>
                <a:sym typeface="Arial"/>
              </a:rPr>
              <a:t>Desarrollar un Sistema de Información Web denominado ElectroMóvil para el seguimiento de los servicios técnicos solicitados a través del mismo aplicativo; de la empresa Xua Técnicos (Servicios de Servicio Técnico de Electrodomésticos de Línea Blanca) ubicada en el municipio de Soacha, Cundinamarca.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13" r="11213"/>
          <a:stretch/>
        </p:blipFill>
        <p:spPr>
          <a:xfrm>
            <a:off x="6102225" y="1470195"/>
            <a:ext cx="5604829" cy="486794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Light" pitchFamily="2" charset="77"/>
                <a:ea typeface="+mj-ea"/>
                <a:cs typeface="+mj-cs"/>
                <a:sym typeface="Arial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Arial"/>
                <a:sym typeface="Arial"/>
              </a:rPr>
              <a:t>Gestionar los Usuarios que se encuentren registrados en el aplicativo ElectroMovil, pertenecientes a Empresa Xua Técnicos ubicada en el municipio de Soacha, Cundinamarca.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Arial"/>
                <a:sym typeface="Arial"/>
              </a:rPr>
              <a:t>Gestionar los servicios Técnicos solicitados a través del aplicativo ElectroMovil que pertenezcan a la Empresa Xua Técnicos ubicada en el municipio de Soacha, Cundinamarca.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Arial"/>
                <a:sym typeface="Arial"/>
              </a:rPr>
              <a:t>Gestionar los reportes gráficos e impresos relacionados a los datos del aplicativo ElectroMovil pertenecientes a la Empresa Xua Técnicos ubicada en el municipio de Soacha, Cundinamarca.</a:t>
            </a:r>
          </a:p>
        </p:txBody>
      </p:sp>
    </p:spTree>
    <p:extLst>
      <p:ext uri="{BB962C8B-B14F-4D97-AF65-F5344CB8AC3E}">
        <p14:creationId xmlns:p14="http://schemas.microsoft.com/office/powerpoint/2010/main" val="239922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49383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solución: Se propone el desarrollo de un Sistema de Información Web denominado [Nombre del Sistema] que sirva como herramienta software de apoyo al seguimiento del/los [Nombre Proceso(s)] de la Empresa [Nombre Empresa].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importancia del Sistema: Permitirá la gestión de los [nombre Perfiles] como usuarios de la Empresa [Nombre Empresa] [más Información]. En [ModProceso1] los [Perfiles Usuario] podrán [acciones del Sistema (beneficios comparados con las necesidades encontradas)]. En [ModProceso2] los [Perfiles Usuario] podrán [acciones del Sistema (beneficios comparados con las necesidades encontradas)]. Finalmente, facilitará la gestión de reportes gráficos e impresos, necesarios para la toma de decisiones del personal administrativo de la Empresa [Nombre Empresa].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El aporte al Sector: El Sistema [Nombre Empresa] servirá como aporte al sector [Sector], como [importancia para el Sector].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65424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Qué hace el Sistema: Operaciones que los perfiles pueden hacer (ModProceso1, ModProceso2, ModProceso3)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Qué NO hace el Sistema: Operaciones que NO va hacer el Sistema (ModProceso4, ModProceso5).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Tecnologías: Descripción de tecnologías del proyecto (Arquitectura de software, patrones de diseño, Back-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End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,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Frond-End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, librerías,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frameworks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, entre otros)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97506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El cronograma: Hasta dónde va el proyecto en términos de Tiempo, actividades, evidencias, responsables, entre otros (Revisar concepto de Modelo Gantt)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Empresa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Plan de Proyecto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Levantamiento de Información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Diagrama de Procesos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IEEE-830 o Historias de Usuario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Diagrama Casos de Uso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Casos de Uso Extendido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Diagrama de Clases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Prototipo No Funcional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Modelo Entidad Relación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Modelo Relacional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Diccionario de Datos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Script de la BBDD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Sentencias DDL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Consultas DML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Automatización de la BBDD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Planeación de Pruebas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Manual de Instalación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Configuración del Servidor de Aplicaciones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Manual de Usuario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Sistema de Información </a:t>
            </a:r>
            <a:r>
              <a:rPr kumimoji="0" lang="es-MX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Web – Servidor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844279" y="212022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>
            <a:stCxn id="131" idx="1"/>
          </p:cNvCxnSpPr>
          <p:nvPr/>
        </p:nvCxnSpPr>
        <p:spPr>
          <a:xfrm rot="10800000" flipH="1">
            <a:off x="844279" y="700537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5"/>
          <p:cNvSpPr txBox="1"/>
          <p:nvPr/>
        </p:nvSpPr>
        <p:spPr>
          <a:xfrm>
            <a:off x="0" y="867083"/>
            <a:ext cx="6392122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Implementar un sistema de registro y autentificación de usuarios, que almacene la información en las respectivas bases de datos para los Clientes, Técnicos, Servicios Solicitados y Órdenes de Trabajo.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Desarrollar un sistema de almacenamiento y seguimiento de los servicios activos y completados a través del aplicativo, que genere reportes totales o parciales acerca del estado en que se encuentra el servicio.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Proporcionar un módulo de consulta con la información relacionada al técnico que realizará el servicio. Además permitirá generar un código de control de seguridad para dar inicio al servicio.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Optimizar la comunicación entre el Cliente y el Técnico, generando un sistema de comunicación basado en chat de texto.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Generar un módulo de medios de pago, el cual permita dar soporte a diversos métodos, para posteriormente realizar el envío de la factura o recibo de pago y la respectiva garantía del servicio realizado.</a:t>
            </a:r>
            <a:endParaRPr/>
          </a:p>
        </p:txBody>
      </p:sp>
      <p:pic>
        <p:nvPicPr>
          <p:cNvPr id="134" name="Google Shape;134;p5" descr="Objetivos generales y específicos | Grandes Pym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4810" y="1787086"/>
            <a:ext cx="5787190" cy="3515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del Problema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>
            <a:stCxn id="147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7"/>
          <p:cNvSpPr txBox="1"/>
          <p:nvPr/>
        </p:nvSpPr>
        <p:spPr>
          <a:xfrm>
            <a:off x="947852" y="2167538"/>
            <a:ext cx="514814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¿Es necesario un sistema de gestión que optimice y unifique todo el proceso relacionado con la contratación y seguimiento de un servicio técnico a domicilio de electrodomésticos de línea blanca?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7" descr="Pregunta o resolución de problemas Concepto de problema de dilema de  preguntas Hombre con problemas de pensamiento que hace preguntas Concepto  de elección Concepto de hacer preguntas para resolver problemas de  rompecabez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4529" y="1804736"/>
            <a:ext cx="4666763" cy="4666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>
            <a:stCxn id="155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8"/>
          <p:cNvSpPr txBox="1"/>
          <p:nvPr/>
        </p:nvSpPr>
        <p:spPr>
          <a:xfrm>
            <a:off x="947852" y="1727768"/>
            <a:ext cx="444229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proyecto se enfocará en el diseño, desarrollo e implementación de un aplicativo web que funciona de intermediario entre el cliente y el técnico. Centrado específicamente en la gestión de los servicios que el técnico llevará a cabo, y las solicitudes del cliente. Integrando diversos módulos que serán fáciles de usar y mejoran cada proceso. Gracias al almacenamiento de los servicios que se lleven a cabo y al monitoreo del mismo, será posible brindar un estado en tiempo real desde la programación de la visita hasta la confirmación final del pago del servicio y envío de la factura electrónica; pasando por diversos puntos de control y verificación del lado tanto del técnico como del cliente.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8" descr="En qué consiste el alcance del proyecto? - Universidad Benito Juárez G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267" y="2371994"/>
            <a:ext cx="6259428" cy="3129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pic>
        <p:nvPicPr>
          <p:cNvPr id="164" name="Google Shape;16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3042" y="1690688"/>
            <a:ext cx="6940758" cy="472617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6"/>
          <p:cNvSpPr txBox="1"/>
          <p:nvPr/>
        </p:nvSpPr>
        <p:spPr>
          <a:xfrm>
            <a:off x="743315" y="301625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Normalización: Primera forma normal.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71" name="Google Shape;171;p38"/>
          <p:cNvSpPr txBox="1"/>
          <p:nvPr/>
        </p:nvSpPr>
        <p:spPr>
          <a:xfrm>
            <a:off x="743315" y="3016251"/>
            <a:ext cx="44422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Normalización:</a:t>
            </a:r>
            <a:b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Segunda forma normal.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4736" y="1515089"/>
            <a:ext cx="7713949" cy="5342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78" name="Google Shape;178;p56"/>
          <p:cNvSpPr txBox="1"/>
          <p:nvPr/>
        </p:nvSpPr>
        <p:spPr>
          <a:xfrm>
            <a:off x="743315" y="3016251"/>
            <a:ext cx="44422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Normalización:</a:t>
            </a:r>
            <a:b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Tercera forma normal.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4145" y="1636665"/>
            <a:ext cx="8943474" cy="502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85" name="Google Shape;185;p57"/>
          <p:cNvSpPr txBox="1"/>
          <p:nvPr/>
        </p:nvSpPr>
        <p:spPr>
          <a:xfrm>
            <a:off x="743315" y="301625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 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0084" y="1533282"/>
            <a:ext cx="8471143" cy="5324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8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93" name="Google Shape;193;p58"/>
          <p:cNvSpPr txBox="1"/>
          <p:nvPr/>
        </p:nvSpPr>
        <p:spPr>
          <a:xfrm>
            <a:off x="743315" y="301625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Relacional.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6723" y="365125"/>
            <a:ext cx="8965277" cy="649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9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01" name="Google Shape;201;p59"/>
          <p:cNvSpPr txBox="1"/>
          <p:nvPr/>
        </p:nvSpPr>
        <p:spPr>
          <a:xfrm>
            <a:off x="286115" y="3441032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en MySQL WorkBench.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0797" y="1612231"/>
            <a:ext cx="7215834" cy="5125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0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09" name="Google Shape;209;p60"/>
          <p:cNvSpPr txBox="1"/>
          <p:nvPr/>
        </p:nvSpPr>
        <p:spPr>
          <a:xfrm>
            <a:off x="7360683" y="539119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 1.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88344"/>
            <a:ext cx="12192000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1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17" name="Google Shape;217;p61"/>
          <p:cNvSpPr txBox="1"/>
          <p:nvPr/>
        </p:nvSpPr>
        <p:spPr>
          <a:xfrm>
            <a:off x="7360683" y="539119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76" y="2215019"/>
            <a:ext cx="12192000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2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25" name="Google Shape;225;p62"/>
          <p:cNvSpPr txBox="1"/>
          <p:nvPr/>
        </p:nvSpPr>
        <p:spPr>
          <a:xfrm>
            <a:off x="7360683" y="539119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 3.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79550"/>
            <a:ext cx="12192000" cy="53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3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Diccionario de datos</a:t>
            </a:r>
            <a:endParaRPr/>
          </a:p>
        </p:txBody>
      </p:sp>
      <p:pic>
        <p:nvPicPr>
          <p:cNvPr id="233" name="Google Shape;23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0806"/>
            <a:ext cx="6095999" cy="4534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9538" y="2196266"/>
            <a:ext cx="5992462" cy="357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9"/>
          <p:cNvSpPr txBox="1">
            <a:spLocks noGrp="1"/>
          </p:cNvSpPr>
          <p:nvPr>
            <p:ph type="title"/>
          </p:nvPr>
        </p:nvSpPr>
        <p:spPr>
          <a:xfrm>
            <a:off x="8800770" y="4961187"/>
            <a:ext cx="304114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Calibri"/>
              <a:buNone/>
            </a:pPr>
            <a:r>
              <a:rPr lang="es-MX">
                <a:solidFill>
                  <a:schemeClr val="dk1"/>
                </a:solidFill>
              </a:rPr>
              <a:t>Diagrama de Casos de uso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5" name="Google Shape;285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084" y="0"/>
            <a:ext cx="96389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>
                <a:solidFill>
                  <a:schemeClr val="lt1"/>
                </a:solidFill>
              </a:rPr>
              <a:t>Diagramas de Casos de uso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91" name="Google Shape;291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5076" y="1438022"/>
            <a:ext cx="6205204" cy="5489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 sz="4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Costos del proyecto</a:t>
            </a:r>
            <a:endParaRPr/>
          </a:p>
        </p:txBody>
      </p:sp>
      <p:pic>
        <p:nvPicPr>
          <p:cNvPr id="304" name="Google Shape;3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1106" y="2241779"/>
            <a:ext cx="6543115" cy="2831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Propuesta técnica – Proveedores</a:t>
            </a:r>
            <a:endParaRPr/>
          </a:p>
        </p:txBody>
      </p:sp>
      <p:pic>
        <p:nvPicPr>
          <p:cNvPr id="373" name="Google Shape;373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6269"/>
            <a:ext cx="12192000" cy="428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Especificaciones de casos de uso</a:t>
            </a:r>
            <a:endParaRPr/>
          </a:p>
        </p:txBody>
      </p:sp>
      <p:pic>
        <p:nvPicPr>
          <p:cNvPr id="391" name="Google Shape;391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681" y="2664338"/>
            <a:ext cx="5598471" cy="2786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702984"/>
            <a:ext cx="5814319" cy="262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Especificaciones de casos de uso</a:t>
            </a:r>
            <a:endParaRPr/>
          </a:p>
        </p:txBody>
      </p:sp>
      <p:pic>
        <p:nvPicPr>
          <p:cNvPr id="405" name="Google Shape;405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81003"/>
            <a:ext cx="6839905" cy="300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690688"/>
            <a:ext cx="5973009" cy="4163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41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1346</Words>
  <Application>Microsoft Office PowerPoint</Application>
  <PresentationFormat>Panorámica</PresentationFormat>
  <Paragraphs>150</Paragraphs>
  <Slides>30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Arial</vt:lpstr>
      <vt:lpstr>Times New Roman</vt:lpstr>
      <vt:lpstr>Arial Rounded</vt:lpstr>
      <vt:lpstr>Calibri Light</vt:lpstr>
      <vt:lpstr>Calibri</vt:lpstr>
      <vt:lpstr>Work Sans Medium</vt:lpstr>
      <vt:lpstr>Work Sans Light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Alcance</vt:lpstr>
      <vt:lpstr>Delimitación</vt:lpstr>
      <vt:lpstr>Entregables Proyecto Formativo por Trimestre</vt:lpstr>
      <vt:lpstr>Presentación de PowerPoint</vt:lpstr>
      <vt:lpstr>Presentación de PowerPoint</vt:lpstr>
      <vt:lpstr>Presentación de PowerPoint</vt:lpstr>
      <vt:lpstr>Base de datos</vt:lpstr>
      <vt:lpstr>Base de datos</vt:lpstr>
      <vt:lpstr>Base de datos</vt:lpstr>
      <vt:lpstr>Base de datos</vt:lpstr>
      <vt:lpstr>Base de datos</vt:lpstr>
      <vt:lpstr>Base de datos</vt:lpstr>
      <vt:lpstr>Base de datos</vt:lpstr>
      <vt:lpstr>Base de datos</vt:lpstr>
      <vt:lpstr>Base de datos</vt:lpstr>
      <vt:lpstr>Diccionario de datos</vt:lpstr>
      <vt:lpstr>Diagrama de Casos de uso</vt:lpstr>
      <vt:lpstr>Diagramas de Casos de uso</vt:lpstr>
      <vt:lpstr>Costos del proyecto</vt:lpstr>
      <vt:lpstr>Propuesta técnica – Proveedores</vt:lpstr>
      <vt:lpstr>Especificaciones de casos de uso</vt:lpstr>
      <vt:lpstr>Especificaciones de casos de uso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Andrés Herrera Mora</dc:creator>
  <cp:lastModifiedBy>Jose Alejandro Madrigal Ruiz</cp:lastModifiedBy>
  <cp:revision>7</cp:revision>
  <dcterms:created xsi:type="dcterms:W3CDTF">2024-03-15T00:49:27Z</dcterms:created>
  <dcterms:modified xsi:type="dcterms:W3CDTF">2025-08-27T18:47:52Z</dcterms:modified>
</cp:coreProperties>
</file>